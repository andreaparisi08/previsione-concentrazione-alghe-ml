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6858000" cy="9144000"/>
  <p:embeddedFontLst>
    <p:embeddedFont>
      <p:font typeface="IBM Plex Sans" panose="020B0503050203000203" pitchFamily="34" charset="0"/>
      <p:regular r:id="rId18"/>
    </p:embeddedFont>
    <p:embeddedFont>
      <p:font typeface="IBM Plex Sans Bold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9" d="100"/>
          <a:sy n="69" d="100"/>
        </p:scale>
        <p:origin x="83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svg"/><Relationship Id="rId4" Type="http://schemas.openxmlformats.org/officeDocument/2006/relationships/image" Target="../media/image3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75604" y="900482"/>
            <a:ext cx="6536006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03"/>
              </a:lnSpc>
              <a:spcBef>
                <a:spcPct val="0"/>
              </a:spcBef>
            </a:pPr>
            <a:r>
              <a:rPr lang="en-US" sz="3419">
                <a:solidFill>
                  <a:srgbClr val="000000"/>
                </a:solidFill>
                <a:latin typeface="IBM Plex Sans"/>
              </a:rPr>
              <a:t>Parisi </a:t>
            </a:r>
            <a:r>
              <a:rPr lang="en-US" sz="3419" dirty="0">
                <a:solidFill>
                  <a:srgbClr val="000000"/>
                </a:solidFill>
                <a:latin typeface="IBM Plex Sans"/>
              </a:rPr>
              <a:t>Andrea 5202353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037944" y="3426097"/>
            <a:ext cx="12212112" cy="3606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30"/>
              </a:lnSpc>
            </a:pPr>
            <a:r>
              <a:rPr lang="en-US" sz="9330">
                <a:solidFill>
                  <a:srgbClr val="000000"/>
                </a:solidFill>
                <a:latin typeface="IBM Plex Sans"/>
              </a:rPr>
              <a:t>Analisi Dataset sulla Concentrazione di un’  Alga Tossica</a:t>
            </a:r>
          </a:p>
        </p:txBody>
      </p:sp>
      <p:sp>
        <p:nvSpPr>
          <p:cNvPr id="4" name="Freeform 4"/>
          <p:cNvSpPr/>
          <p:nvPr/>
        </p:nvSpPr>
        <p:spPr>
          <a:xfrm rot="-2827211">
            <a:off x="14295600" y="-2005524"/>
            <a:ext cx="7984799" cy="6068448"/>
          </a:xfrm>
          <a:custGeom>
            <a:avLst/>
            <a:gdLst/>
            <a:ahLst/>
            <a:cxnLst/>
            <a:rect l="l" t="t" r="r" b="b"/>
            <a:pathLst>
              <a:path w="7984799" h="6068448">
                <a:moveTo>
                  <a:pt x="0" y="0"/>
                </a:moveTo>
                <a:lnTo>
                  <a:pt x="7984800" y="0"/>
                </a:lnTo>
                <a:lnTo>
                  <a:pt x="7984800" y="6068448"/>
                </a:lnTo>
                <a:lnTo>
                  <a:pt x="0" y="60684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Freeform 5"/>
          <p:cNvSpPr/>
          <p:nvPr/>
        </p:nvSpPr>
        <p:spPr>
          <a:xfrm rot="-6422757">
            <a:off x="-3518081" y="6224076"/>
            <a:ext cx="7984799" cy="6068448"/>
          </a:xfrm>
          <a:custGeom>
            <a:avLst/>
            <a:gdLst/>
            <a:ahLst/>
            <a:cxnLst/>
            <a:rect l="l" t="t" r="r" b="b"/>
            <a:pathLst>
              <a:path w="7984799" h="6068448">
                <a:moveTo>
                  <a:pt x="0" y="0"/>
                </a:moveTo>
                <a:lnTo>
                  <a:pt x="7984800" y="0"/>
                </a:lnTo>
                <a:lnTo>
                  <a:pt x="7984800" y="6068448"/>
                </a:lnTo>
                <a:lnTo>
                  <a:pt x="0" y="60684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Freeform 6"/>
          <p:cNvSpPr/>
          <p:nvPr/>
        </p:nvSpPr>
        <p:spPr>
          <a:xfrm>
            <a:off x="13031128" y="7709227"/>
            <a:ext cx="7071199" cy="5155547"/>
          </a:xfrm>
          <a:custGeom>
            <a:avLst/>
            <a:gdLst/>
            <a:ahLst/>
            <a:cxnLst/>
            <a:rect l="l" t="t" r="r" b="b"/>
            <a:pathLst>
              <a:path w="7071199" h="5155547">
                <a:moveTo>
                  <a:pt x="0" y="0"/>
                </a:moveTo>
                <a:lnTo>
                  <a:pt x="7071198" y="0"/>
                </a:lnTo>
                <a:lnTo>
                  <a:pt x="7071198" y="5155546"/>
                </a:lnTo>
                <a:lnTo>
                  <a:pt x="0" y="51555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7" name="Freeform 7"/>
          <p:cNvSpPr/>
          <p:nvPr/>
        </p:nvSpPr>
        <p:spPr>
          <a:xfrm>
            <a:off x="744965" y="1128601"/>
            <a:ext cx="567469" cy="567469"/>
          </a:xfrm>
          <a:custGeom>
            <a:avLst/>
            <a:gdLst/>
            <a:ahLst/>
            <a:cxnLst/>
            <a:rect l="l" t="t" r="r" b="b"/>
            <a:pathLst>
              <a:path w="567469" h="567469">
                <a:moveTo>
                  <a:pt x="0" y="0"/>
                </a:moveTo>
                <a:lnTo>
                  <a:pt x="567470" y="0"/>
                </a:lnTo>
                <a:lnTo>
                  <a:pt x="567470" y="567470"/>
                </a:lnTo>
                <a:lnTo>
                  <a:pt x="0" y="567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0104444"/>
            <a:ext cx="18288000" cy="182556"/>
          </a:xfrm>
          <a:prstGeom prst="rect">
            <a:avLst/>
          </a:prstGeom>
          <a:solidFill>
            <a:srgbClr val="9600F2"/>
          </a:solidFill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1028700" y="1028700"/>
            <a:ext cx="8115300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0200"/>
              </a:lnSpc>
              <a:spcBef>
                <a:spcPct val="0"/>
              </a:spcBef>
            </a:pPr>
            <a:r>
              <a:rPr lang="en-US" sz="8500">
                <a:solidFill>
                  <a:srgbClr val="000000"/>
                </a:solidFill>
                <a:latin typeface="IBM Plex Sans Bold"/>
              </a:rPr>
              <a:t>Introduzione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88397" y="2382269"/>
            <a:ext cx="15760048" cy="5654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69531" lvl="1" indent="-534765" algn="l">
              <a:lnSpc>
                <a:spcPts val="4953"/>
              </a:lnSpc>
              <a:buFont typeface="Arial"/>
              <a:buChar char="•"/>
            </a:pPr>
            <a:r>
              <a:rPr lang="en-US" sz="4953">
                <a:solidFill>
                  <a:srgbClr val="000000"/>
                </a:solidFill>
                <a:latin typeface="IBM Plex Sans"/>
              </a:rPr>
              <a:t>Si è monitorata la concentrazione in mare di un’ alga tossica. </a:t>
            </a:r>
          </a:p>
          <a:p>
            <a:pPr algn="l">
              <a:lnSpc>
                <a:spcPts val="4953"/>
              </a:lnSpc>
            </a:pPr>
            <a:endParaRPr lang="en-US" sz="4953">
              <a:solidFill>
                <a:srgbClr val="000000"/>
              </a:solidFill>
              <a:latin typeface="IBM Plex Sans"/>
            </a:endParaRPr>
          </a:p>
          <a:p>
            <a:pPr marL="1069531" lvl="1" indent="-534765" algn="l">
              <a:lnSpc>
                <a:spcPts val="4953"/>
              </a:lnSpc>
              <a:buFont typeface="Arial"/>
              <a:buChar char="•"/>
            </a:pPr>
            <a:r>
              <a:rPr lang="en-US" sz="4953">
                <a:solidFill>
                  <a:srgbClr val="000000"/>
                </a:solidFill>
                <a:latin typeface="IBM Plex Sans"/>
              </a:rPr>
              <a:t> Obbiettivi:</a:t>
            </a:r>
          </a:p>
          <a:p>
            <a:pPr marL="2139062" lvl="2" indent="-713021" algn="l">
              <a:lnSpc>
                <a:spcPts val="4953"/>
              </a:lnSpc>
              <a:buFont typeface="Arial"/>
              <a:buChar char="⚬"/>
            </a:pPr>
            <a:r>
              <a:rPr lang="en-US" sz="4953">
                <a:solidFill>
                  <a:srgbClr val="000000"/>
                </a:solidFill>
                <a:latin typeface="IBM Plex Sans"/>
              </a:rPr>
              <a:t>Stimare il valore della concentrazione in base a cinque possibili feature.</a:t>
            </a:r>
          </a:p>
          <a:p>
            <a:pPr marL="2139062" lvl="2" indent="-713021" algn="l">
              <a:lnSpc>
                <a:spcPts val="4953"/>
              </a:lnSpc>
              <a:buFont typeface="Arial"/>
              <a:buChar char="⚬"/>
            </a:pPr>
            <a:r>
              <a:rPr lang="en-US" sz="4953">
                <a:solidFill>
                  <a:srgbClr val="000000"/>
                </a:solidFill>
                <a:latin typeface="IBM Plex Sans"/>
              </a:rPr>
              <a:t>Analizzare se ci sia differenza nel fare una previsione con o senza stazione di rilevamento.</a:t>
            </a:r>
          </a:p>
          <a:p>
            <a:pPr algn="l">
              <a:lnSpc>
                <a:spcPts val="4953"/>
              </a:lnSpc>
            </a:pPr>
            <a:endParaRPr lang="en-US" sz="4953">
              <a:solidFill>
                <a:srgbClr val="000000"/>
              </a:solidFill>
              <a:latin typeface="IBM Plex Sans"/>
            </a:endParaRPr>
          </a:p>
        </p:txBody>
      </p:sp>
      <p:sp>
        <p:nvSpPr>
          <p:cNvPr id="5" name="Freeform 5"/>
          <p:cNvSpPr/>
          <p:nvPr/>
        </p:nvSpPr>
        <p:spPr>
          <a:xfrm rot="-2511351">
            <a:off x="14546516" y="-2523470"/>
            <a:ext cx="10237820" cy="7780743"/>
          </a:xfrm>
          <a:custGeom>
            <a:avLst/>
            <a:gdLst/>
            <a:ahLst/>
            <a:cxnLst/>
            <a:rect l="l" t="t" r="r" b="b"/>
            <a:pathLst>
              <a:path w="10237820" h="7780743">
                <a:moveTo>
                  <a:pt x="0" y="0"/>
                </a:moveTo>
                <a:lnTo>
                  <a:pt x="10237821" y="0"/>
                </a:lnTo>
                <a:lnTo>
                  <a:pt x="10237821" y="7780744"/>
                </a:lnTo>
                <a:lnTo>
                  <a:pt x="0" y="77807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Freeform 6"/>
          <p:cNvSpPr/>
          <p:nvPr/>
        </p:nvSpPr>
        <p:spPr>
          <a:xfrm>
            <a:off x="-2370395" y="7680190"/>
            <a:ext cx="16267188" cy="11268724"/>
          </a:xfrm>
          <a:custGeom>
            <a:avLst/>
            <a:gdLst/>
            <a:ahLst/>
            <a:cxnLst/>
            <a:rect l="l" t="t" r="r" b="b"/>
            <a:pathLst>
              <a:path w="16267188" h="11268724">
                <a:moveTo>
                  <a:pt x="0" y="0"/>
                </a:moveTo>
                <a:lnTo>
                  <a:pt x="16267188" y="0"/>
                </a:lnTo>
                <a:lnTo>
                  <a:pt x="16267188" y="11268724"/>
                </a:lnTo>
                <a:lnTo>
                  <a:pt x="0" y="112687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7962901" cy="10287000"/>
          </a:xfrm>
          <a:prstGeom prst="rect">
            <a:avLst/>
          </a:prstGeom>
          <a:solidFill>
            <a:srgbClr val="F4F4F4"/>
          </a:solid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7962901" y="2354767"/>
            <a:ext cx="10325099" cy="5737967"/>
          </a:xfrm>
          <a:custGeom>
            <a:avLst/>
            <a:gdLst/>
            <a:ahLst/>
            <a:cxnLst/>
            <a:rect l="l" t="t" r="r" b="b"/>
            <a:pathLst>
              <a:path w="10325099" h="5737967">
                <a:moveTo>
                  <a:pt x="0" y="0"/>
                </a:moveTo>
                <a:lnTo>
                  <a:pt x="10325099" y="0"/>
                </a:lnTo>
                <a:lnTo>
                  <a:pt x="10325099" y="5737967"/>
                </a:lnTo>
                <a:lnTo>
                  <a:pt x="0" y="57379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TextBox 4"/>
          <p:cNvSpPr txBox="1"/>
          <p:nvPr/>
        </p:nvSpPr>
        <p:spPr>
          <a:xfrm>
            <a:off x="533264" y="447675"/>
            <a:ext cx="6697429" cy="1152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12"/>
              </a:lnSpc>
              <a:spcBef>
                <a:spcPct val="0"/>
              </a:spcBef>
            </a:pPr>
            <a:r>
              <a:rPr lang="en-US" sz="7510">
                <a:solidFill>
                  <a:srgbClr val="000000"/>
                </a:solidFill>
                <a:latin typeface="IBM Plex Sans Bold"/>
              </a:rPr>
              <a:t>Features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5615" y="2138940"/>
            <a:ext cx="7807285" cy="6770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60278" lvl="1" indent="-480139" algn="l">
              <a:lnSpc>
                <a:spcPts val="4447"/>
              </a:lnSpc>
              <a:buFont typeface="Arial"/>
              <a:buChar char="•"/>
            </a:pPr>
            <a:r>
              <a:rPr lang="en-US" sz="4447">
                <a:solidFill>
                  <a:srgbClr val="000000"/>
                </a:solidFill>
                <a:latin typeface="IBM Plex Sans"/>
              </a:rPr>
              <a:t>Stazione di campionamento</a:t>
            </a:r>
          </a:p>
          <a:p>
            <a:pPr algn="l">
              <a:lnSpc>
                <a:spcPts val="4447"/>
              </a:lnSpc>
            </a:pPr>
            <a:endParaRPr lang="en-US" sz="4447">
              <a:solidFill>
                <a:srgbClr val="000000"/>
              </a:solidFill>
              <a:latin typeface="IBM Plex Sans"/>
            </a:endParaRPr>
          </a:p>
          <a:p>
            <a:pPr marL="960278" lvl="1" indent="-480139" algn="l">
              <a:lnSpc>
                <a:spcPts val="4447"/>
              </a:lnSpc>
              <a:buFont typeface="Arial"/>
              <a:buChar char="•"/>
            </a:pPr>
            <a:r>
              <a:rPr lang="en-US" sz="4447">
                <a:solidFill>
                  <a:srgbClr val="000000"/>
                </a:solidFill>
                <a:latin typeface="IBM Plex Sans"/>
              </a:rPr>
              <a:t>Temperatura dell’acqua</a:t>
            </a:r>
          </a:p>
          <a:p>
            <a:pPr algn="l">
              <a:lnSpc>
                <a:spcPts val="4447"/>
              </a:lnSpc>
            </a:pPr>
            <a:endParaRPr lang="en-US" sz="4447">
              <a:solidFill>
                <a:srgbClr val="000000"/>
              </a:solidFill>
              <a:latin typeface="IBM Plex Sans"/>
            </a:endParaRPr>
          </a:p>
          <a:p>
            <a:pPr marL="960278" lvl="1" indent="-480139" algn="l">
              <a:lnSpc>
                <a:spcPts val="4447"/>
              </a:lnSpc>
              <a:buFont typeface="Arial"/>
              <a:buChar char="•"/>
            </a:pPr>
            <a:r>
              <a:rPr lang="en-US" sz="4447">
                <a:solidFill>
                  <a:srgbClr val="000000"/>
                </a:solidFill>
                <a:latin typeface="IBM Plex Sans"/>
              </a:rPr>
              <a:t>Salinità</a:t>
            </a:r>
          </a:p>
          <a:p>
            <a:pPr algn="l">
              <a:lnSpc>
                <a:spcPts val="4447"/>
              </a:lnSpc>
            </a:pPr>
            <a:endParaRPr lang="en-US" sz="4447">
              <a:solidFill>
                <a:srgbClr val="000000"/>
              </a:solidFill>
              <a:latin typeface="IBM Plex Sans"/>
            </a:endParaRPr>
          </a:p>
          <a:p>
            <a:pPr marL="960278" lvl="1" indent="-480139" algn="l">
              <a:lnSpc>
                <a:spcPts val="4447"/>
              </a:lnSpc>
              <a:buFont typeface="Arial"/>
              <a:buChar char="•"/>
            </a:pPr>
            <a:r>
              <a:rPr lang="en-US" sz="4447">
                <a:solidFill>
                  <a:srgbClr val="000000"/>
                </a:solidFill>
                <a:latin typeface="IBM Plex Sans"/>
              </a:rPr>
              <a:t>Temperatura dell’aria</a:t>
            </a:r>
          </a:p>
          <a:p>
            <a:pPr algn="l">
              <a:lnSpc>
                <a:spcPts val="4447"/>
              </a:lnSpc>
            </a:pPr>
            <a:endParaRPr lang="en-US" sz="4447">
              <a:solidFill>
                <a:srgbClr val="000000"/>
              </a:solidFill>
              <a:latin typeface="IBM Plex Sans"/>
            </a:endParaRPr>
          </a:p>
          <a:p>
            <a:pPr marL="960278" lvl="1" indent="-480139" algn="l">
              <a:lnSpc>
                <a:spcPts val="4447"/>
              </a:lnSpc>
              <a:buFont typeface="Arial"/>
              <a:buChar char="•"/>
            </a:pPr>
            <a:r>
              <a:rPr lang="en-US" sz="4447">
                <a:solidFill>
                  <a:srgbClr val="000000"/>
                </a:solidFill>
                <a:latin typeface="IBM Plex Sans"/>
              </a:rPr>
              <a:t>Pressione atmosferica</a:t>
            </a:r>
          </a:p>
          <a:p>
            <a:pPr algn="l">
              <a:lnSpc>
                <a:spcPts val="4447"/>
              </a:lnSpc>
            </a:pPr>
            <a:endParaRPr lang="en-US" sz="4447">
              <a:solidFill>
                <a:srgbClr val="000000"/>
              </a:solidFill>
              <a:latin typeface="IBM Plex Sans"/>
            </a:endParaRPr>
          </a:p>
          <a:p>
            <a:pPr marL="960278" lvl="1" indent="-480139" algn="l">
              <a:lnSpc>
                <a:spcPts val="4447"/>
              </a:lnSpc>
              <a:buFont typeface="Arial"/>
              <a:buChar char="•"/>
            </a:pPr>
            <a:r>
              <a:rPr lang="en-US" sz="4447">
                <a:solidFill>
                  <a:srgbClr val="000000"/>
                </a:solidFill>
                <a:latin typeface="IBM Plex Sans"/>
              </a:rPr>
              <a:t>Concentrazione</a:t>
            </a:r>
          </a:p>
        </p:txBody>
      </p:sp>
      <p:sp>
        <p:nvSpPr>
          <p:cNvPr id="6" name="Freeform 6"/>
          <p:cNvSpPr/>
          <p:nvPr/>
        </p:nvSpPr>
        <p:spPr>
          <a:xfrm>
            <a:off x="9641579" y="-3739501"/>
            <a:ext cx="7617721" cy="5789468"/>
          </a:xfrm>
          <a:custGeom>
            <a:avLst/>
            <a:gdLst/>
            <a:ahLst/>
            <a:cxnLst/>
            <a:rect l="l" t="t" r="r" b="b"/>
            <a:pathLst>
              <a:path w="7617721" h="5789468">
                <a:moveTo>
                  <a:pt x="0" y="0"/>
                </a:moveTo>
                <a:lnTo>
                  <a:pt x="7617721" y="0"/>
                </a:lnTo>
                <a:lnTo>
                  <a:pt x="7617721" y="5789468"/>
                </a:lnTo>
                <a:lnTo>
                  <a:pt x="0" y="57894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7" name="Freeform 7"/>
          <p:cNvSpPr/>
          <p:nvPr/>
        </p:nvSpPr>
        <p:spPr>
          <a:xfrm>
            <a:off x="10364928" y="8237033"/>
            <a:ext cx="7923072" cy="4883494"/>
          </a:xfrm>
          <a:custGeom>
            <a:avLst/>
            <a:gdLst/>
            <a:ahLst/>
            <a:cxnLst/>
            <a:rect l="l" t="t" r="r" b="b"/>
            <a:pathLst>
              <a:path w="7923072" h="4883494">
                <a:moveTo>
                  <a:pt x="0" y="0"/>
                </a:moveTo>
                <a:lnTo>
                  <a:pt x="7923072" y="0"/>
                </a:lnTo>
                <a:lnTo>
                  <a:pt x="7923072" y="4883494"/>
                </a:lnTo>
                <a:lnTo>
                  <a:pt x="0" y="48834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69003" y="4897019"/>
            <a:ext cx="16230600" cy="5027606"/>
          </a:xfrm>
          <a:custGeom>
            <a:avLst/>
            <a:gdLst/>
            <a:ahLst/>
            <a:cxnLst/>
            <a:rect l="l" t="t" r="r" b="b"/>
            <a:pathLst>
              <a:path w="16230600" h="5027606">
                <a:moveTo>
                  <a:pt x="0" y="0"/>
                </a:moveTo>
                <a:lnTo>
                  <a:pt x="16230600" y="0"/>
                </a:lnTo>
                <a:lnTo>
                  <a:pt x="16230600" y="5027607"/>
                </a:lnTo>
                <a:lnTo>
                  <a:pt x="0" y="50276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3" name="Group 3"/>
          <p:cNvGrpSpPr/>
          <p:nvPr/>
        </p:nvGrpSpPr>
        <p:grpSpPr>
          <a:xfrm>
            <a:off x="0" y="6484462"/>
            <a:ext cx="1357678" cy="678839"/>
            <a:chOff x="0" y="0"/>
            <a:chExt cx="812800" cy="4064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600F2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1028700"/>
            <a:ext cx="15800588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0200"/>
              </a:lnSpc>
              <a:spcBef>
                <a:spcPct val="0"/>
              </a:spcBef>
            </a:pPr>
            <a:r>
              <a:rPr lang="en-US" sz="8500">
                <a:solidFill>
                  <a:srgbClr val="000000"/>
                </a:solidFill>
                <a:latin typeface="IBM Plex Sans Bold"/>
              </a:rPr>
              <a:t>Analisi e pulizia dei dati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8370" y="2716561"/>
            <a:ext cx="15614571" cy="18851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59658" lvl="1" indent="-529829" algn="l">
              <a:lnSpc>
                <a:spcPts val="4908"/>
              </a:lnSpc>
              <a:buFont typeface="Arial"/>
              <a:buChar char="•"/>
            </a:pPr>
            <a:r>
              <a:rPr lang="en-US" sz="4908">
                <a:solidFill>
                  <a:srgbClr val="000000"/>
                </a:solidFill>
                <a:latin typeface="IBM Plex Sans"/>
              </a:rPr>
              <a:t>Piccole variazioni dei parametri portano ad elevate variazioni della concentrazione</a:t>
            </a:r>
          </a:p>
          <a:p>
            <a:pPr marL="1059658" lvl="1" indent="-529829" algn="l">
              <a:lnSpc>
                <a:spcPts val="4908"/>
              </a:lnSpc>
              <a:buFont typeface="Arial"/>
              <a:buChar char="•"/>
            </a:pPr>
            <a:r>
              <a:rPr lang="en-US" sz="4908">
                <a:solidFill>
                  <a:srgbClr val="000000"/>
                </a:solidFill>
                <a:latin typeface="IBM Plex Sans"/>
              </a:rPr>
              <a:t>Dataset pronto all’uso</a:t>
            </a:r>
          </a:p>
        </p:txBody>
      </p:sp>
      <p:sp>
        <p:nvSpPr>
          <p:cNvPr id="8" name="Freeform 8"/>
          <p:cNvSpPr/>
          <p:nvPr/>
        </p:nvSpPr>
        <p:spPr>
          <a:xfrm rot="-8680055">
            <a:off x="14895107" y="-2067618"/>
            <a:ext cx="7939276" cy="6192635"/>
          </a:xfrm>
          <a:custGeom>
            <a:avLst/>
            <a:gdLst/>
            <a:ahLst/>
            <a:cxnLst/>
            <a:rect l="l" t="t" r="r" b="b"/>
            <a:pathLst>
              <a:path w="7939276" h="6192635">
                <a:moveTo>
                  <a:pt x="0" y="0"/>
                </a:moveTo>
                <a:lnTo>
                  <a:pt x="7939276" y="0"/>
                </a:lnTo>
                <a:lnTo>
                  <a:pt x="7939276" y="6192636"/>
                </a:lnTo>
                <a:lnTo>
                  <a:pt x="0" y="61926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7524750" cy="10287000"/>
          </a:xfrm>
          <a:prstGeom prst="rect">
            <a:avLst/>
          </a:prstGeom>
          <a:solidFill>
            <a:srgbClr val="F4F4F4"/>
          </a:solid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608650" y="1899827"/>
            <a:ext cx="5502885" cy="4121811"/>
          </a:xfrm>
          <a:custGeom>
            <a:avLst/>
            <a:gdLst/>
            <a:ahLst/>
            <a:cxnLst/>
            <a:rect l="l" t="t" r="r" b="b"/>
            <a:pathLst>
              <a:path w="5502885" h="4121811">
                <a:moveTo>
                  <a:pt x="0" y="0"/>
                </a:moveTo>
                <a:lnTo>
                  <a:pt x="5502885" y="0"/>
                </a:lnTo>
                <a:lnTo>
                  <a:pt x="5502885" y="4121811"/>
                </a:lnTo>
                <a:lnTo>
                  <a:pt x="0" y="41218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>
            <a:off x="6134192" y="1899827"/>
            <a:ext cx="5557499" cy="4198269"/>
          </a:xfrm>
          <a:custGeom>
            <a:avLst/>
            <a:gdLst/>
            <a:ahLst/>
            <a:cxnLst/>
            <a:rect l="l" t="t" r="r" b="b"/>
            <a:pathLst>
              <a:path w="5557499" h="4198269">
                <a:moveTo>
                  <a:pt x="0" y="0"/>
                </a:moveTo>
                <a:lnTo>
                  <a:pt x="5557499" y="0"/>
                </a:lnTo>
                <a:lnTo>
                  <a:pt x="5557499" y="4198269"/>
                </a:lnTo>
                <a:lnTo>
                  <a:pt x="0" y="41982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Freeform 5"/>
          <p:cNvSpPr/>
          <p:nvPr/>
        </p:nvSpPr>
        <p:spPr>
          <a:xfrm>
            <a:off x="585148" y="6029916"/>
            <a:ext cx="5687198" cy="4257084"/>
          </a:xfrm>
          <a:custGeom>
            <a:avLst/>
            <a:gdLst/>
            <a:ahLst/>
            <a:cxnLst/>
            <a:rect l="l" t="t" r="r" b="b"/>
            <a:pathLst>
              <a:path w="5687198" h="4257084">
                <a:moveTo>
                  <a:pt x="0" y="0"/>
                </a:moveTo>
                <a:lnTo>
                  <a:pt x="5687198" y="0"/>
                </a:lnTo>
                <a:lnTo>
                  <a:pt x="5687198" y="4257084"/>
                </a:lnTo>
                <a:lnTo>
                  <a:pt x="0" y="42570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Freeform 6"/>
          <p:cNvSpPr/>
          <p:nvPr/>
        </p:nvSpPr>
        <p:spPr>
          <a:xfrm>
            <a:off x="6249043" y="6192153"/>
            <a:ext cx="5613903" cy="4094847"/>
          </a:xfrm>
          <a:custGeom>
            <a:avLst/>
            <a:gdLst/>
            <a:ahLst/>
            <a:cxnLst/>
            <a:rect l="l" t="t" r="r" b="b"/>
            <a:pathLst>
              <a:path w="5613903" h="4094847">
                <a:moveTo>
                  <a:pt x="0" y="0"/>
                </a:moveTo>
                <a:lnTo>
                  <a:pt x="5613903" y="0"/>
                </a:lnTo>
                <a:lnTo>
                  <a:pt x="5613903" y="4094847"/>
                </a:lnTo>
                <a:lnTo>
                  <a:pt x="0" y="40948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7" name="Freeform 7"/>
          <p:cNvSpPr/>
          <p:nvPr/>
        </p:nvSpPr>
        <p:spPr>
          <a:xfrm>
            <a:off x="12190723" y="3093894"/>
            <a:ext cx="5789139" cy="4099213"/>
          </a:xfrm>
          <a:custGeom>
            <a:avLst/>
            <a:gdLst/>
            <a:ahLst/>
            <a:cxnLst/>
            <a:rect l="l" t="t" r="r" b="b"/>
            <a:pathLst>
              <a:path w="5789139" h="4099213">
                <a:moveTo>
                  <a:pt x="0" y="0"/>
                </a:moveTo>
                <a:lnTo>
                  <a:pt x="5789139" y="0"/>
                </a:lnTo>
                <a:lnTo>
                  <a:pt x="5789139" y="4099212"/>
                </a:lnTo>
                <a:lnTo>
                  <a:pt x="0" y="40992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8" name="TextBox 8"/>
          <p:cNvSpPr txBox="1"/>
          <p:nvPr/>
        </p:nvSpPr>
        <p:spPr>
          <a:xfrm>
            <a:off x="1028700" y="381000"/>
            <a:ext cx="5243646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200"/>
              </a:lnSpc>
              <a:spcBef>
                <a:spcPct val="0"/>
              </a:spcBef>
            </a:pPr>
            <a:r>
              <a:rPr lang="en-US" sz="8500">
                <a:solidFill>
                  <a:srgbClr val="000000"/>
                </a:solidFill>
                <a:latin typeface="IBM Plex Sans Bold"/>
              </a:rPr>
              <a:t>Feature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846339" y="0"/>
            <a:ext cx="11441661" cy="10287000"/>
          </a:xfrm>
          <a:custGeom>
            <a:avLst/>
            <a:gdLst/>
            <a:ahLst/>
            <a:cxnLst/>
            <a:rect l="l" t="t" r="r" b="b"/>
            <a:pathLst>
              <a:path w="11441661" h="10287000">
                <a:moveTo>
                  <a:pt x="0" y="0"/>
                </a:moveTo>
                <a:lnTo>
                  <a:pt x="11441661" y="0"/>
                </a:lnTo>
                <a:lnTo>
                  <a:pt x="1144166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52" b="-352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6846339" cy="10287000"/>
          </a:xfrm>
          <a:prstGeom prst="rect">
            <a:avLst/>
          </a:prstGeom>
          <a:solidFill>
            <a:srgbClr val="F4F4F4"/>
          </a:solidFill>
        </p:spPr>
        <p:txBody>
          <a:bodyPr/>
          <a:lstStyle/>
          <a:p>
            <a:endParaRPr lang="it-IT"/>
          </a:p>
        </p:txBody>
      </p:sp>
      <p:sp>
        <p:nvSpPr>
          <p:cNvPr id="4" name="TextBox 4"/>
          <p:cNvSpPr txBox="1"/>
          <p:nvPr/>
        </p:nvSpPr>
        <p:spPr>
          <a:xfrm>
            <a:off x="533264" y="1019175"/>
            <a:ext cx="5827755" cy="1152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12"/>
              </a:lnSpc>
              <a:spcBef>
                <a:spcPct val="0"/>
              </a:spcBef>
            </a:pPr>
            <a:r>
              <a:rPr lang="en-US" sz="7510">
                <a:solidFill>
                  <a:srgbClr val="000000"/>
                </a:solidFill>
                <a:latin typeface="IBM Plex Sans Bold"/>
              </a:rPr>
              <a:t>Pairplot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-98660" y="3712260"/>
            <a:ext cx="6722445" cy="2850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64831" lvl="1" indent="-482416" algn="l">
              <a:lnSpc>
                <a:spcPts val="4468"/>
              </a:lnSpc>
              <a:buFont typeface="Arial"/>
              <a:buChar char="•"/>
            </a:pPr>
            <a:r>
              <a:rPr lang="en-US" sz="4468">
                <a:solidFill>
                  <a:srgbClr val="000000"/>
                </a:solidFill>
                <a:latin typeface="IBM Plex Sans"/>
              </a:rPr>
              <a:t>Identificazione degli outliers tramite zscore</a:t>
            </a:r>
          </a:p>
          <a:p>
            <a:pPr algn="l">
              <a:lnSpc>
                <a:spcPts val="4468"/>
              </a:lnSpc>
            </a:pPr>
            <a:endParaRPr lang="en-US" sz="4468">
              <a:solidFill>
                <a:srgbClr val="000000"/>
              </a:solidFill>
              <a:latin typeface="IBM Plex Sans"/>
            </a:endParaRPr>
          </a:p>
          <a:p>
            <a:pPr marL="964831" lvl="1" indent="-482416" algn="l">
              <a:lnSpc>
                <a:spcPts val="4468"/>
              </a:lnSpc>
              <a:buFont typeface="Arial"/>
              <a:buChar char="•"/>
            </a:pPr>
            <a:r>
              <a:rPr lang="en-US" sz="4468">
                <a:solidFill>
                  <a:srgbClr val="000000"/>
                </a:solidFill>
                <a:latin typeface="IBM Plex Sans"/>
              </a:rPr>
              <a:t>Correlazioni non chiare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6846339" cy="10287000"/>
          </a:xfrm>
          <a:prstGeom prst="rect">
            <a:avLst/>
          </a:prstGeom>
          <a:solidFill>
            <a:srgbClr val="F4F4F4"/>
          </a:solid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6970529" y="174129"/>
            <a:ext cx="11317471" cy="9938743"/>
          </a:xfrm>
          <a:custGeom>
            <a:avLst/>
            <a:gdLst/>
            <a:ahLst/>
            <a:cxnLst/>
            <a:rect l="l" t="t" r="r" b="b"/>
            <a:pathLst>
              <a:path w="11317471" h="9938743">
                <a:moveTo>
                  <a:pt x="0" y="0"/>
                </a:moveTo>
                <a:lnTo>
                  <a:pt x="11317471" y="0"/>
                </a:lnTo>
                <a:lnTo>
                  <a:pt x="11317471" y="9938742"/>
                </a:lnTo>
                <a:lnTo>
                  <a:pt x="0" y="99387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20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TextBox 4"/>
          <p:cNvSpPr txBox="1"/>
          <p:nvPr/>
        </p:nvSpPr>
        <p:spPr>
          <a:xfrm>
            <a:off x="115891" y="1028700"/>
            <a:ext cx="6730449" cy="1570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92"/>
              </a:lnSpc>
              <a:spcBef>
                <a:spcPct val="0"/>
              </a:spcBef>
            </a:pPr>
            <a:r>
              <a:rPr lang="en-US" sz="5160">
                <a:solidFill>
                  <a:srgbClr val="000000"/>
                </a:solidFill>
                <a:latin typeface="IBM Plex Sans Bold"/>
              </a:rPr>
              <a:t>Rimozione outliers e categorizzazione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81051" y="3654600"/>
            <a:ext cx="6484237" cy="4369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30643" lvl="1" indent="-465322" algn="l">
              <a:lnSpc>
                <a:spcPts val="4310"/>
              </a:lnSpc>
              <a:buFont typeface="Arial"/>
              <a:buChar char="•"/>
            </a:pPr>
            <a:r>
              <a:rPr lang="en-US" sz="4310">
                <a:solidFill>
                  <a:srgbClr val="000000"/>
                </a:solidFill>
                <a:latin typeface="IBM Plex Sans"/>
              </a:rPr>
              <a:t>Per facilitare la visualizzazione dei dati abbiamo rimosso gli outliers e categorizzato in base a diverse fasce di valori per la concentrazione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7962901" cy="10287000"/>
          </a:xfrm>
          <a:prstGeom prst="rect">
            <a:avLst/>
          </a:prstGeom>
          <a:solidFill>
            <a:srgbClr val="F4F4F4"/>
          </a:solid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9641579" y="-3739501"/>
            <a:ext cx="7617721" cy="5789468"/>
          </a:xfrm>
          <a:custGeom>
            <a:avLst/>
            <a:gdLst/>
            <a:ahLst/>
            <a:cxnLst/>
            <a:rect l="l" t="t" r="r" b="b"/>
            <a:pathLst>
              <a:path w="7617721" h="5789468">
                <a:moveTo>
                  <a:pt x="0" y="0"/>
                </a:moveTo>
                <a:lnTo>
                  <a:pt x="7617721" y="0"/>
                </a:lnTo>
                <a:lnTo>
                  <a:pt x="7617721" y="5789468"/>
                </a:lnTo>
                <a:lnTo>
                  <a:pt x="0" y="57894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>
            <a:off x="10364928" y="8237033"/>
            <a:ext cx="7923072" cy="4883494"/>
          </a:xfrm>
          <a:custGeom>
            <a:avLst/>
            <a:gdLst/>
            <a:ahLst/>
            <a:cxnLst/>
            <a:rect l="l" t="t" r="r" b="b"/>
            <a:pathLst>
              <a:path w="7923072" h="4883494">
                <a:moveTo>
                  <a:pt x="0" y="0"/>
                </a:moveTo>
                <a:lnTo>
                  <a:pt x="7923072" y="0"/>
                </a:lnTo>
                <a:lnTo>
                  <a:pt x="7923072" y="4883494"/>
                </a:lnTo>
                <a:lnTo>
                  <a:pt x="0" y="48834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Freeform 5"/>
          <p:cNvSpPr/>
          <p:nvPr/>
        </p:nvSpPr>
        <p:spPr>
          <a:xfrm>
            <a:off x="7856928" y="3083741"/>
            <a:ext cx="10431072" cy="4119518"/>
          </a:xfrm>
          <a:custGeom>
            <a:avLst/>
            <a:gdLst/>
            <a:ahLst/>
            <a:cxnLst/>
            <a:rect l="l" t="t" r="r" b="b"/>
            <a:pathLst>
              <a:path w="10431072" h="4119518">
                <a:moveTo>
                  <a:pt x="0" y="0"/>
                </a:moveTo>
                <a:lnTo>
                  <a:pt x="10431072" y="0"/>
                </a:lnTo>
                <a:lnTo>
                  <a:pt x="10431072" y="4119518"/>
                </a:lnTo>
                <a:lnTo>
                  <a:pt x="0" y="41195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TextBox 6"/>
          <p:cNvSpPr txBox="1"/>
          <p:nvPr/>
        </p:nvSpPr>
        <p:spPr>
          <a:xfrm>
            <a:off x="533264" y="447675"/>
            <a:ext cx="6697429" cy="1152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12"/>
              </a:lnSpc>
              <a:spcBef>
                <a:spcPct val="0"/>
              </a:spcBef>
            </a:pPr>
            <a:r>
              <a:rPr lang="en-US" sz="7510">
                <a:solidFill>
                  <a:srgbClr val="000000"/>
                </a:solidFill>
                <a:latin typeface="IBM Plex Sans Bold"/>
              </a:rPr>
              <a:t>Correlazione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7160" y="3398257"/>
            <a:ext cx="7429637" cy="3576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0"/>
              </a:lnSpc>
            </a:pPr>
            <a:r>
              <a:rPr lang="en-US" sz="4670">
                <a:solidFill>
                  <a:srgbClr val="000000"/>
                </a:solidFill>
                <a:latin typeface="IBM Plex Sans"/>
              </a:rPr>
              <a:t>Analizzando la tabella si può notare che non è presente una forte correlazione tra le features e la concentrazione.</a:t>
            </a:r>
          </a:p>
          <a:p>
            <a:pPr algn="l">
              <a:lnSpc>
                <a:spcPts val="4670"/>
              </a:lnSpc>
            </a:pPr>
            <a:endParaRPr lang="en-US" sz="4670">
              <a:solidFill>
                <a:srgbClr val="000000"/>
              </a:solidFill>
              <a:latin typeface="IBM Plex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7962901" cy="10287000"/>
          </a:xfrm>
          <a:prstGeom prst="rect">
            <a:avLst/>
          </a:prstGeom>
          <a:solidFill>
            <a:srgbClr val="F4F4F4"/>
          </a:solid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9641579" y="-3739501"/>
            <a:ext cx="7617721" cy="5789468"/>
          </a:xfrm>
          <a:custGeom>
            <a:avLst/>
            <a:gdLst/>
            <a:ahLst/>
            <a:cxnLst/>
            <a:rect l="l" t="t" r="r" b="b"/>
            <a:pathLst>
              <a:path w="7617721" h="5789468">
                <a:moveTo>
                  <a:pt x="0" y="0"/>
                </a:moveTo>
                <a:lnTo>
                  <a:pt x="7617721" y="0"/>
                </a:lnTo>
                <a:lnTo>
                  <a:pt x="7617721" y="5789468"/>
                </a:lnTo>
                <a:lnTo>
                  <a:pt x="0" y="57894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>
            <a:off x="10364928" y="8237033"/>
            <a:ext cx="7923072" cy="4883494"/>
          </a:xfrm>
          <a:custGeom>
            <a:avLst/>
            <a:gdLst/>
            <a:ahLst/>
            <a:cxnLst/>
            <a:rect l="l" t="t" r="r" b="b"/>
            <a:pathLst>
              <a:path w="7923072" h="4883494">
                <a:moveTo>
                  <a:pt x="0" y="0"/>
                </a:moveTo>
                <a:lnTo>
                  <a:pt x="7923072" y="0"/>
                </a:lnTo>
                <a:lnTo>
                  <a:pt x="7923072" y="4883494"/>
                </a:lnTo>
                <a:lnTo>
                  <a:pt x="0" y="48834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Freeform 5"/>
          <p:cNvSpPr/>
          <p:nvPr/>
        </p:nvSpPr>
        <p:spPr>
          <a:xfrm>
            <a:off x="7962901" y="144951"/>
            <a:ext cx="10216721" cy="3810031"/>
          </a:xfrm>
          <a:custGeom>
            <a:avLst/>
            <a:gdLst/>
            <a:ahLst/>
            <a:cxnLst/>
            <a:rect l="l" t="t" r="r" b="b"/>
            <a:pathLst>
              <a:path w="10216721" h="3810031">
                <a:moveTo>
                  <a:pt x="0" y="0"/>
                </a:moveTo>
                <a:lnTo>
                  <a:pt x="10216721" y="0"/>
                </a:lnTo>
                <a:lnTo>
                  <a:pt x="10216721" y="3810031"/>
                </a:lnTo>
                <a:lnTo>
                  <a:pt x="0" y="38100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264" b="-1264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Freeform 6"/>
          <p:cNvSpPr/>
          <p:nvPr/>
        </p:nvSpPr>
        <p:spPr>
          <a:xfrm>
            <a:off x="8712562" y="3954982"/>
            <a:ext cx="8546738" cy="6332018"/>
          </a:xfrm>
          <a:custGeom>
            <a:avLst/>
            <a:gdLst/>
            <a:ahLst/>
            <a:cxnLst/>
            <a:rect l="l" t="t" r="r" b="b"/>
            <a:pathLst>
              <a:path w="8546738" h="6332018">
                <a:moveTo>
                  <a:pt x="0" y="0"/>
                </a:moveTo>
                <a:lnTo>
                  <a:pt x="8546738" y="0"/>
                </a:lnTo>
                <a:lnTo>
                  <a:pt x="8546738" y="6332018"/>
                </a:lnTo>
                <a:lnTo>
                  <a:pt x="0" y="63320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7" name="TextBox 7"/>
          <p:cNvSpPr txBox="1"/>
          <p:nvPr/>
        </p:nvSpPr>
        <p:spPr>
          <a:xfrm>
            <a:off x="266632" y="493145"/>
            <a:ext cx="7381583" cy="1071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45"/>
              </a:lnSpc>
              <a:spcBef>
                <a:spcPct val="0"/>
              </a:spcBef>
            </a:pPr>
            <a:r>
              <a:rPr lang="en-US" sz="7037">
                <a:solidFill>
                  <a:srgbClr val="000000"/>
                </a:solidFill>
                <a:latin typeface="IBM Plex Sans Bold"/>
              </a:rPr>
              <a:t>Normalizzazione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66632" y="2135692"/>
            <a:ext cx="7429637" cy="7119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08401" lvl="1" indent="-504200" algn="l">
              <a:lnSpc>
                <a:spcPts val="4670"/>
              </a:lnSpc>
              <a:buFont typeface="Arial"/>
              <a:buChar char="•"/>
            </a:pPr>
            <a:r>
              <a:rPr lang="en-US" sz="4670">
                <a:solidFill>
                  <a:srgbClr val="000000"/>
                </a:solidFill>
                <a:latin typeface="IBM Plex Sans"/>
              </a:rPr>
              <a:t>StandardScaler per Tacqua, Salinità, Taria, Patm</a:t>
            </a:r>
          </a:p>
          <a:p>
            <a:pPr marL="1008401" lvl="1" indent="-504200" algn="l">
              <a:lnSpc>
                <a:spcPts val="4670"/>
              </a:lnSpc>
              <a:buFont typeface="Arial"/>
              <a:buChar char="•"/>
            </a:pPr>
            <a:r>
              <a:rPr lang="en-US" sz="4670">
                <a:solidFill>
                  <a:srgbClr val="000000"/>
                </a:solidFill>
                <a:latin typeface="IBM Plex Sans"/>
              </a:rPr>
              <a:t>Logaritmo in base 10 e per la concentrazione</a:t>
            </a:r>
          </a:p>
          <a:p>
            <a:pPr algn="l">
              <a:lnSpc>
                <a:spcPts val="4670"/>
              </a:lnSpc>
            </a:pPr>
            <a:endParaRPr lang="en-US" sz="4670">
              <a:solidFill>
                <a:srgbClr val="000000"/>
              </a:solidFill>
              <a:latin typeface="IBM Plex Sans"/>
            </a:endParaRPr>
          </a:p>
          <a:p>
            <a:pPr marL="1008401" lvl="1" indent="-504200" algn="l">
              <a:lnSpc>
                <a:spcPts val="4670"/>
              </a:lnSpc>
              <a:buFont typeface="Arial"/>
              <a:buChar char="•"/>
            </a:pPr>
            <a:r>
              <a:rPr lang="en-US" sz="4670">
                <a:solidFill>
                  <a:srgbClr val="000000"/>
                </a:solidFill>
                <a:latin typeface="IBM Plex Sans"/>
              </a:rPr>
              <a:t>Si può notare come la normalizzazione abbia influito sulla correlazione</a:t>
            </a:r>
          </a:p>
          <a:p>
            <a:pPr marL="1008401" lvl="1" indent="-504200" algn="l">
              <a:lnSpc>
                <a:spcPts val="4670"/>
              </a:lnSpc>
              <a:buFont typeface="Arial"/>
              <a:buChar char="•"/>
            </a:pPr>
            <a:r>
              <a:rPr lang="en-US" sz="4670">
                <a:solidFill>
                  <a:srgbClr val="000000"/>
                </a:solidFill>
                <a:latin typeface="IBM Plex Sans"/>
              </a:rPr>
              <a:t>Box plot per supporto visivo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7962901" cy="10287000"/>
          </a:xfrm>
          <a:prstGeom prst="rect">
            <a:avLst/>
          </a:prstGeom>
          <a:solidFill>
            <a:srgbClr val="F4F4F4"/>
          </a:solid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9641579" y="-3739501"/>
            <a:ext cx="7617721" cy="5789468"/>
          </a:xfrm>
          <a:custGeom>
            <a:avLst/>
            <a:gdLst/>
            <a:ahLst/>
            <a:cxnLst/>
            <a:rect l="l" t="t" r="r" b="b"/>
            <a:pathLst>
              <a:path w="7617721" h="5789468">
                <a:moveTo>
                  <a:pt x="0" y="0"/>
                </a:moveTo>
                <a:lnTo>
                  <a:pt x="7617721" y="0"/>
                </a:lnTo>
                <a:lnTo>
                  <a:pt x="7617721" y="5789468"/>
                </a:lnTo>
                <a:lnTo>
                  <a:pt x="0" y="57894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>
            <a:off x="10364928" y="8237033"/>
            <a:ext cx="7923072" cy="4883494"/>
          </a:xfrm>
          <a:custGeom>
            <a:avLst/>
            <a:gdLst/>
            <a:ahLst/>
            <a:cxnLst/>
            <a:rect l="l" t="t" r="r" b="b"/>
            <a:pathLst>
              <a:path w="7923072" h="4883494">
                <a:moveTo>
                  <a:pt x="0" y="0"/>
                </a:moveTo>
                <a:lnTo>
                  <a:pt x="7923072" y="0"/>
                </a:lnTo>
                <a:lnTo>
                  <a:pt x="7923072" y="4883494"/>
                </a:lnTo>
                <a:lnTo>
                  <a:pt x="0" y="48834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Freeform 5"/>
          <p:cNvSpPr/>
          <p:nvPr/>
        </p:nvSpPr>
        <p:spPr>
          <a:xfrm>
            <a:off x="7962901" y="1260572"/>
            <a:ext cx="10325099" cy="7973179"/>
          </a:xfrm>
          <a:custGeom>
            <a:avLst/>
            <a:gdLst/>
            <a:ahLst/>
            <a:cxnLst/>
            <a:rect l="l" t="t" r="r" b="b"/>
            <a:pathLst>
              <a:path w="10325099" h="7973179">
                <a:moveTo>
                  <a:pt x="0" y="0"/>
                </a:moveTo>
                <a:lnTo>
                  <a:pt x="10325099" y="0"/>
                </a:lnTo>
                <a:lnTo>
                  <a:pt x="10325099" y="7973178"/>
                </a:lnTo>
                <a:lnTo>
                  <a:pt x="0" y="79731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TextBox 6"/>
          <p:cNvSpPr txBox="1"/>
          <p:nvPr/>
        </p:nvSpPr>
        <p:spPr>
          <a:xfrm>
            <a:off x="266632" y="493145"/>
            <a:ext cx="7381583" cy="1071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45"/>
              </a:lnSpc>
              <a:spcBef>
                <a:spcPct val="0"/>
              </a:spcBef>
            </a:pPr>
            <a:r>
              <a:rPr lang="en-US" sz="7037">
                <a:solidFill>
                  <a:srgbClr val="000000"/>
                </a:solidFill>
                <a:latin typeface="IBM Plex Sans Bold"/>
              </a:rPr>
              <a:t>Kernel Lineare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66632" y="3398257"/>
            <a:ext cx="7429637" cy="4166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08401" lvl="1" indent="-504200" algn="l">
              <a:lnSpc>
                <a:spcPts val="4670"/>
              </a:lnSpc>
              <a:buFont typeface="Arial"/>
              <a:buChar char="•"/>
            </a:pPr>
            <a:r>
              <a:rPr lang="en-US" sz="4670">
                <a:solidFill>
                  <a:srgbClr val="000000"/>
                </a:solidFill>
                <a:latin typeface="IBM Plex Sans"/>
              </a:rPr>
              <a:t>Primo approccio utilizzato</a:t>
            </a:r>
          </a:p>
          <a:p>
            <a:pPr algn="l">
              <a:lnSpc>
                <a:spcPts val="4670"/>
              </a:lnSpc>
            </a:pPr>
            <a:endParaRPr lang="en-US" sz="4670">
              <a:solidFill>
                <a:srgbClr val="000000"/>
              </a:solidFill>
              <a:latin typeface="IBM Plex Sans"/>
            </a:endParaRPr>
          </a:p>
          <a:p>
            <a:pPr marL="1008401" lvl="1" indent="-504200" algn="l">
              <a:lnSpc>
                <a:spcPts val="4670"/>
              </a:lnSpc>
              <a:buFont typeface="Arial"/>
              <a:buChar char="•"/>
            </a:pPr>
            <a:r>
              <a:rPr lang="en-US" sz="4670">
                <a:solidFill>
                  <a:srgbClr val="000000"/>
                </a:solidFill>
                <a:latin typeface="IBM Plex Sans"/>
              </a:rPr>
              <a:t>Non in grado di cogliere le sfumature dei dati e non riesce a prevedere la concentrazione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7962901" cy="10287000"/>
          </a:xfrm>
          <a:prstGeom prst="rect">
            <a:avLst/>
          </a:prstGeom>
          <a:solidFill>
            <a:srgbClr val="F4F4F4"/>
          </a:solid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9641579" y="-3739501"/>
            <a:ext cx="7617721" cy="5789468"/>
          </a:xfrm>
          <a:custGeom>
            <a:avLst/>
            <a:gdLst/>
            <a:ahLst/>
            <a:cxnLst/>
            <a:rect l="l" t="t" r="r" b="b"/>
            <a:pathLst>
              <a:path w="7617721" h="5789468">
                <a:moveTo>
                  <a:pt x="0" y="0"/>
                </a:moveTo>
                <a:lnTo>
                  <a:pt x="7617721" y="0"/>
                </a:lnTo>
                <a:lnTo>
                  <a:pt x="7617721" y="5789468"/>
                </a:lnTo>
                <a:lnTo>
                  <a:pt x="0" y="57894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>
            <a:off x="10364928" y="8237033"/>
            <a:ext cx="7923072" cy="4883494"/>
          </a:xfrm>
          <a:custGeom>
            <a:avLst/>
            <a:gdLst/>
            <a:ahLst/>
            <a:cxnLst/>
            <a:rect l="l" t="t" r="r" b="b"/>
            <a:pathLst>
              <a:path w="7923072" h="4883494">
                <a:moveTo>
                  <a:pt x="0" y="0"/>
                </a:moveTo>
                <a:lnTo>
                  <a:pt x="7923072" y="0"/>
                </a:lnTo>
                <a:lnTo>
                  <a:pt x="7923072" y="4883494"/>
                </a:lnTo>
                <a:lnTo>
                  <a:pt x="0" y="48834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Freeform 5"/>
          <p:cNvSpPr/>
          <p:nvPr/>
        </p:nvSpPr>
        <p:spPr>
          <a:xfrm>
            <a:off x="7962901" y="1564255"/>
            <a:ext cx="10112086" cy="7593061"/>
          </a:xfrm>
          <a:custGeom>
            <a:avLst/>
            <a:gdLst/>
            <a:ahLst/>
            <a:cxnLst/>
            <a:rect l="l" t="t" r="r" b="b"/>
            <a:pathLst>
              <a:path w="10112086" h="7593061">
                <a:moveTo>
                  <a:pt x="0" y="0"/>
                </a:moveTo>
                <a:lnTo>
                  <a:pt x="10112086" y="0"/>
                </a:lnTo>
                <a:lnTo>
                  <a:pt x="10112086" y="7593061"/>
                </a:lnTo>
                <a:lnTo>
                  <a:pt x="0" y="75930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TextBox 6"/>
          <p:cNvSpPr txBox="1"/>
          <p:nvPr/>
        </p:nvSpPr>
        <p:spPr>
          <a:xfrm>
            <a:off x="266632" y="264838"/>
            <a:ext cx="7381583" cy="21422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45"/>
              </a:lnSpc>
              <a:spcBef>
                <a:spcPct val="0"/>
              </a:spcBef>
            </a:pPr>
            <a:r>
              <a:rPr lang="en-US" sz="7037">
                <a:solidFill>
                  <a:srgbClr val="000000"/>
                </a:solidFill>
                <a:latin typeface="IBM Plex Sans Bold"/>
              </a:rPr>
              <a:t>Kernel Polinomiale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18578" y="3024993"/>
            <a:ext cx="7429637" cy="4757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08401" lvl="1" indent="-504200" algn="l">
              <a:lnSpc>
                <a:spcPts val="4670"/>
              </a:lnSpc>
              <a:buFont typeface="Arial"/>
              <a:buChar char="•"/>
            </a:pPr>
            <a:r>
              <a:rPr lang="en-US" sz="4670">
                <a:solidFill>
                  <a:srgbClr val="000000"/>
                </a:solidFill>
                <a:latin typeface="IBM Plex Sans"/>
              </a:rPr>
              <a:t>Permette di considerare combinazioni non lineari delle caratteristiche originali</a:t>
            </a:r>
          </a:p>
          <a:p>
            <a:pPr algn="l">
              <a:lnSpc>
                <a:spcPts val="4670"/>
              </a:lnSpc>
            </a:pPr>
            <a:endParaRPr lang="en-US" sz="4670">
              <a:solidFill>
                <a:srgbClr val="000000"/>
              </a:solidFill>
              <a:latin typeface="IBM Plex Sans"/>
            </a:endParaRPr>
          </a:p>
          <a:p>
            <a:pPr marL="1008401" lvl="1" indent="-504200" algn="l">
              <a:lnSpc>
                <a:spcPts val="4670"/>
              </a:lnSpc>
              <a:buFont typeface="Arial"/>
              <a:buChar char="•"/>
            </a:pPr>
            <a:r>
              <a:rPr lang="en-US" sz="4670">
                <a:solidFill>
                  <a:srgbClr val="000000"/>
                </a:solidFill>
                <a:latin typeface="IBM Plex Sans"/>
              </a:rPr>
              <a:t>Migliora leggermente la predizione ma non è ancora soddisfacente. 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7962901" cy="10287000"/>
          </a:xfrm>
          <a:prstGeom prst="rect">
            <a:avLst/>
          </a:prstGeom>
          <a:solidFill>
            <a:srgbClr val="F4F4F4"/>
          </a:solid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9641579" y="-3739501"/>
            <a:ext cx="7617721" cy="5789468"/>
          </a:xfrm>
          <a:custGeom>
            <a:avLst/>
            <a:gdLst/>
            <a:ahLst/>
            <a:cxnLst/>
            <a:rect l="l" t="t" r="r" b="b"/>
            <a:pathLst>
              <a:path w="7617721" h="5789468">
                <a:moveTo>
                  <a:pt x="0" y="0"/>
                </a:moveTo>
                <a:lnTo>
                  <a:pt x="7617721" y="0"/>
                </a:lnTo>
                <a:lnTo>
                  <a:pt x="7617721" y="5789468"/>
                </a:lnTo>
                <a:lnTo>
                  <a:pt x="0" y="57894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>
            <a:off x="10364928" y="8237033"/>
            <a:ext cx="7923072" cy="4883494"/>
          </a:xfrm>
          <a:custGeom>
            <a:avLst/>
            <a:gdLst/>
            <a:ahLst/>
            <a:cxnLst/>
            <a:rect l="l" t="t" r="r" b="b"/>
            <a:pathLst>
              <a:path w="7923072" h="4883494">
                <a:moveTo>
                  <a:pt x="0" y="0"/>
                </a:moveTo>
                <a:lnTo>
                  <a:pt x="7923072" y="0"/>
                </a:lnTo>
                <a:lnTo>
                  <a:pt x="7923072" y="4883494"/>
                </a:lnTo>
                <a:lnTo>
                  <a:pt x="0" y="48834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Freeform 5"/>
          <p:cNvSpPr/>
          <p:nvPr/>
        </p:nvSpPr>
        <p:spPr>
          <a:xfrm>
            <a:off x="9144000" y="264838"/>
            <a:ext cx="8303195" cy="1856488"/>
          </a:xfrm>
          <a:custGeom>
            <a:avLst/>
            <a:gdLst/>
            <a:ahLst/>
            <a:cxnLst/>
            <a:rect l="l" t="t" r="r" b="b"/>
            <a:pathLst>
              <a:path w="8303195" h="1856488">
                <a:moveTo>
                  <a:pt x="0" y="0"/>
                </a:moveTo>
                <a:lnTo>
                  <a:pt x="8303195" y="0"/>
                </a:lnTo>
                <a:lnTo>
                  <a:pt x="8303195" y="1856488"/>
                </a:lnTo>
                <a:lnTo>
                  <a:pt x="0" y="18564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Freeform 6"/>
          <p:cNvSpPr/>
          <p:nvPr/>
        </p:nvSpPr>
        <p:spPr>
          <a:xfrm>
            <a:off x="8164116" y="8413094"/>
            <a:ext cx="9921701" cy="1191426"/>
          </a:xfrm>
          <a:custGeom>
            <a:avLst/>
            <a:gdLst/>
            <a:ahLst/>
            <a:cxnLst/>
            <a:rect l="l" t="t" r="r" b="b"/>
            <a:pathLst>
              <a:path w="9921701" h="1191426">
                <a:moveTo>
                  <a:pt x="0" y="0"/>
                </a:moveTo>
                <a:lnTo>
                  <a:pt x="9921701" y="0"/>
                </a:lnTo>
                <a:lnTo>
                  <a:pt x="9921701" y="1191426"/>
                </a:lnTo>
                <a:lnTo>
                  <a:pt x="0" y="11914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7" name="Freeform 7"/>
          <p:cNvSpPr/>
          <p:nvPr/>
        </p:nvSpPr>
        <p:spPr>
          <a:xfrm>
            <a:off x="9270623" y="2396376"/>
            <a:ext cx="8049950" cy="5840657"/>
          </a:xfrm>
          <a:custGeom>
            <a:avLst/>
            <a:gdLst/>
            <a:ahLst/>
            <a:cxnLst/>
            <a:rect l="l" t="t" r="r" b="b"/>
            <a:pathLst>
              <a:path w="8049950" h="5840657">
                <a:moveTo>
                  <a:pt x="0" y="0"/>
                </a:moveTo>
                <a:lnTo>
                  <a:pt x="8049949" y="0"/>
                </a:lnTo>
                <a:lnTo>
                  <a:pt x="8049949" y="5840657"/>
                </a:lnTo>
                <a:lnTo>
                  <a:pt x="0" y="584065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8" name="TextBox 8"/>
          <p:cNvSpPr txBox="1"/>
          <p:nvPr/>
        </p:nvSpPr>
        <p:spPr>
          <a:xfrm>
            <a:off x="266632" y="264838"/>
            <a:ext cx="7381583" cy="21422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45"/>
              </a:lnSpc>
              <a:spcBef>
                <a:spcPct val="0"/>
              </a:spcBef>
            </a:pPr>
            <a:r>
              <a:rPr lang="en-US" sz="7037">
                <a:solidFill>
                  <a:srgbClr val="000000"/>
                </a:solidFill>
                <a:latin typeface="IBM Plex Sans Bold"/>
              </a:rPr>
              <a:t>Discesa del gradiente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66632" y="2721089"/>
            <a:ext cx="7429637" cy="6528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08401" lvl="1" indent="-504200" algn="l">
              <a:lnSpc>
                <a:spcPts val="4670"/>
              </a:lnSpc>
              <a:buFont typeface="Arial"/>
              <a:buChar char="•"/>
            </a:pPr>
            <a:r>
              <a:rPr lang="en-US" sz="4670">
                <a:solidFill>
                  <a:srgbClr val="000000"/>
                </a:solidFill>
                <a:latin typeface="IBM Plex Sans"/>
              </a:rPr>
              <a:t>Con variabile categorica</a:t>
            </a:r>
          </a:p>
          <a:p>
            <a:pPr algn="l">
              <a:lnSpc>
                <a:spcPts val="4670"/>
              </a:lnSpc>
            </a:pPr>
            <a:endParaRPr lang="en-US" sz="4670">
              <a:solidFill>
                <a:srgbClr val="000000"/>
              </a:solidFill>
              <a:latin typeface="IBM Plex Sans"/>
            </a:endParaRPr>
          </a:p>
          <a:p>
            <a:pPr marL="1008401" lvl="1" indent="-504200" algn="l">
              <a:lnSpc>
                <a:spcPts val="4670"/>
              </a:lnSpc>
              <a:buFont typeface="Arial"/>
              <a:buChar char="•"/>
            </a:pPr>
            <a:r>
              <a:rPr lang="en-US" sz="4670">
                <a:solidFill>
                  <a:srgbClr val="000000"/>
                </a:solidFill>
                <a:latin typeface="IBM Plex Sans"/>
              </a:rPr>
              <a:t>Previsione di valori alti di concentrazione difficili da ottenere</a:t>
            </a:r>
          </a:p>
          <a:p>
            <a:pPr algn="l">
              <a:lnSpc>
                <a:spcPts val="4670"/>
              </a:lnSpc>
            </a:pPr>
            <a:endParaRPr lang="en-US" sz="4670">
              <a:solidFill>
                <a:srgbClr val="000000"/>
              </a:solidFill>
              <a:latin typeface="IBM Plex Sans"/>
            </a:endParaRPr>
          </a:p>
          <a:p>
            <a:pPr marL="1008401" lvl="1" indent="-504200" algn="l">
              <a:lnSpc>
                <a:spcPts val="4670"/>
              </a:lnSpc>
              <a:buFont typeface="Arial"/>
              <a:buChar char="•"/>
            </a:pPr>
            <a:r>
              <a:rPr lang="en-US" sz="4670">
                <a:solidFill>
                  <a:srgbClr val="000000"/>
                </a:solidFill>
                <a:latin typeface="IBM Plex Sans"/>
              </a:rPr>
              <a:t>Accuratezza comunque soddisfacente</a:t>
            </a:r>
          </a:p>
          <a:p>
            <a:pPr algn="l">
              <a:lnSpc>
                <a:spcPts val="4670"/>
              </a:lnSpc>
            </a:pPr>
            <a:endParaRPr lang="en-US" sz="4670">
              <a:solidFill>
                <a:srgbClr val="000000"/>
              </a:solidFill>
              <a:latin typeface="IBM Plex Sans"/>
            </a:endParaRPr>
          </a:p>
          <a:p>
            <a:pPr marL="1008401" lvl="1" indent="-504200" algn="l">
              <a:lnSpc>
                <a:spcPts val="4670"/>
              </a:lnSpc>
              <a:buFont typeface="Arial"/>
              <a:buChar char="•"/>
            </a:pPr>
            <a:r>
              <a:rPr lang="en-US" sz="4670">
                <a:solidFill>
                  <a:srgbClr val="000000"/>
                </a:solidFill>
                <a:latin typeface="IBM Plex Sans"/>
              </a:rPr>
              <a:t>Alcune stazioni influenzano più di altre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7962901" cy="10287000"/>
          </a:xfrm>
          <a:prstGeom prst="rect">
            <a:avLst/>
          </a:prstGeom>
          <a:solidFill>
            <a:srgbClr val="F4F4F4"/>
          </a:solid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9641579" y="-3739501"/>
            <a:ext cx="7617721" cy="5789468"/>
          </a:xfrm>
          <a:custGeom>
            <a:avLst/>
            <a:gdLst/>
            <a:ahLst/>
            <a:cxnLst/>
            <a:rect l="l" t="t" r="r" b="b"/>
            <a:pathLst>
              <a:path w="7617721" h="5789468">
                <a:moveTo>
                  <a:pt x="0" y="0"/>
                </a:moveTo>
                <a:lnTo>
                  <a:pt x="7617721" y="0"/>
                </a:lnTo>
                <a:lnTo>
                  <a:pt x="7617721" y="5789468"/>
                </a:lnTo>
                <a:lnTo>
                  <a:pt x="0" y="57894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>
            <a:off x="10364928" y="8237033"/>
            <a:ext cx="7923072" cy="4883494"/>
          </a:xfrm>
          <a:custGeom>
            <a:avLst/>
            <a:gdLst/>
            <a:ahLst/>
            <a:cxnLst/>
            <a:rect l="l" t="t" r="r" b="b"/>
            <a:pathLst>
              <a:path w="7923072" h="4883494">
                <a:moveTo>
                  <a:pt x="0" y="0"/>
                </a:moveTo>
                <a:lnTo>
                  <a:pt x="7923072" y="0"/>
                </a:lnTo>
                <a:lnTo>
                  <a:pt x="7923072" y="4883494"/>
                </a:lnTo>
                <a:lnTo>
                  <a:pt x="0" y="48834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Freeform 5"/>
          <p:cNvSpPr/>
          <p:nvPr/>
        </p:nvSpPr>
        <p:spPr>
          <a:xfrm>
            <a:off x="9144000" y="385073"/>
            <a:ext cx="8141144" cy="2021983"/>
          </a:xfrm>
          <a:custGeom>
            <a:avLst/>
            <a:gdLst/>
            <a:ahLst/>
            <a:cxnLst/>
            <a:rect l="l" t="t" r="r" b="b"/>
            <a:pathLst>
              <a:path w="8141144" h="2021983">
                <a:moveTo>
                  <a:pt x="0" y="0"/>
                </a:moveTo>
                <a:lnTo>
                  <a:pt x="8141144" y="0"/>
                </a:lnTo>
                <a:lnTo>
                  <a:pt x="8141144" y="2021983"/>
                </a:lnTo>
                <a:lnTo>
                  <a:pt x="0" y="20219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Freeform 6"/>
          <p:cNvSpPr/>
          <p:nvPr/>
        </p:nvSpPr>
        <p:spPr>
          <a:xfrm>
            <a:off x="8354027" y="2635364"/>
            <a:ext cx="9669402" cy="7012633"/>
          </a:xfrm>
          <a:custGeom>
            <a:avLst/>
            <a:gdLst/>
            <a:ahLst/>
            <a:cxnLst/>
            <a:rect l="l" t="t" r="r" b="b"/>
            <a:pathLst>
              <a:path w="9669402" h="7012633">
                <a:moveTo>
                  <a:pt x="0" y="0"/>
                </a:moveTo>
                <a:lnTo>
                  <a:pt x="9669402" y="0"/>
                </a:lnTo>
                <a:lnTo>
                  <a:pt x="9669402" y="7012634"/>
                </a:lnTo>
                <a:lnTo>
                  <a:pt x="0" y="70126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7" name="TextBox 7"/>
          <p:cNvSpPr txBox="1"/>
          <p:nvPr/>
        </p:nvSpPr>
        <p:spPr>
          <a:xfrm>
            <a:off x="266632" y="264838"/>
            <a:ext cx="7381583" cy="21422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45"/>
              </a:lnSpc>
              <a:spcBef>
                <a:spcPct val="0"/>
              </a:spcBef>
            </a:pPr>
            <a:r>
              <a:rPr lang="en-US" sz="7037">
                <a:solidFill>
                  <a:srgbClr val="000000"/>
                </a:solidFill>
                <a:latin typeface="IBM Plex Sans Bold"/>
              </a:rPr>
              <a:t>Discesa del gradiente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66632" y="2721089"/>
            <a:ext cx="7429637" cy="6528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08401" lvl="1" indent="-504200" algn="l">
              <a:lnSpc>
                <a:spcPts val="4670"/>
              </a:lnSpc>
              <a:buFont typeface="Arial"/>
              <a:buChar char="•"/>
            </a:pPr>
            <a:r>
              <a:rPr lang="en-US" sz="4670">
                <a:solidFill>
                  <a:srgbClr val="000000"/>
                </a:solidFill>
                <a:latin typeface="IBM Plex Sans"/>
              </a:rPr>
              <a:t>Senza variabile categorica</a:t>
            </a:r>
          </a:p>
          <a:p>
            <a:pPr algn="l">
              <a:lnSpc>
                <a:spcPts val="4670"/>
              </a:lnSpc>
            </a:pPr>
            <a:endParaRPr lang="en-US" sz="4670">
              <a:solidFill>
                <a:srgbClr val="000000"/>
              </a:solidFill>
              <a:latin typeface="IBM Plex Sans"/>
            </a:endParaRPr>
          </a:p>
          <a:p>
            <a:pPr marL="1008401" lvl="1" indent="-504200" algn="l">
              <a:lnSpc>
                <a:spcPts val="4670"/>
              </a:lnSpc>
              <a:buFont typeface="Arial"/>
              <a:buChar char="•"/>
            </a:pPr>
            <a:r>
              <a:rPr lang="en-US" sz="4670">
                <a:solidFill>
                  <a:srgbClr val="000000"/>
                </a:solidFill>
                <a:latin typeface="IBM Plex Sans"/>
              </a:rPr>
              <a:t>Peggioramento accuratezza</a:t>
            </a:r>
          </a:p>
          <a:p>
            <a:pPr algn="l">
              <a:lnSpc>
                <a:spcPts val="4670"/>
              </a:lnSpc>
            </a:pPr>
            <a:endParaRPr lang="en-US" sz="4670">
              <a:solidFill>
                <a:srgbClr val="000000"/>
              </a:solidFill>
              <a:latin typeface="IBM Plex Sans"/>
            </a:endParaRPr>
          </a:p>
          <a:p>
            <a:pPr marL="1008401" lvl="1" indent="-504200" algn="l">
              <a:lnSpc>
                <a:spcPts val="4670"/>
              </a:lnSpc>
              <a:buFont typeface="Arial"/>
              <a:buChar char="•"/>
            </a:pPr>
            <a:r>
              <a:rPr lang="en-US" sz="4670">
                <a:solidFill>
                  <a:srgbClr val="000000"/>
                </a:solidFill>
                <a:latin typeface="IBM Plex Sans"/>
              </a:rPr>
              <a:t>Importante quindi avere i dati riferiti alle singole stazioni per poter fare una previsione più accurata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7962901" cy="10287000"/>
          </a:xfrm>
          <a:prstGeom prst="rect">
            <a:avLst/>
          </a:prstGeom>
          <a:solidFill>
            <a:srgbClr val="F4F4F4"/>
          </a:solid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9641579" y="-3739501"/>
            <a:ext cx="7617721" cy="5789468"/>
          </a:xfrm>
          <a:custGeom>
            <a:avLst/>
            <a:gdLst/>
            <a:ahLst/>
            <a:cxnLst/>
            <a:rect l="l" t="t" r="r" b="b"/>
            <a:pathLst>
              <a:path w="7617721" h="5789468">
                <a:moveTo>
                  <a:pt x="0" y="0"/>
                </a:moveTo>
                <a:lnTo>
                  <a:pt x="7617721" y="0"/>
                </a:lnTo>
                <a:lnTo>
                  <a:pt x="7617721" y="5789468"/>
                </a:lnTo>
                <a:lnTo>
                  <a:pt x="0" y="57894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>
            <a:off x="10364928" y="8237033"/>
            <a:ext cx="7923072" cy="4883494"/>
          </a:xfrm>
          <a:custGeom>
            <a:avLst/>
            <a:gdLst/>
            <a:ahLst/>
            <a:cxnLst/>
            <a:rect l="l" t="t" r="r" b="b"/>
            <a:pathLst>
              <a:path w="7923072" h="4883494">
                <a:moveTo>
                  <a:pt x="0" y="0"/>
                </a:moveTo>
                <a:lnTo>
                  <a:pt x="7923072" y="0"/>
                </a:lnTo>
                <a:lnTo>
                  <a:pt x="7923072" y="4883494"/>
                </a:lnTo>
                <a:lnTo>
                  <a:pt x="0" y="48834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Freeform 5"/>
          <p:cNvSpPr/>
          <p:nvPr/>
        </p:nvSpPr>
        <p:spPr>
          <a:xfrm>
            <a:off x="7962901" y="2843498"/>
            <a:ext cx="10291138" cy="7443502"/>
          </a:xfrm>
          <a:custGeom>
            <a:avLst/>
            <a:gdLst/>
            <a:ahLst/>
            <a:cxnLst/>
            <a:rect l="l" t="t" r="r" b="b"/>
            <a:pathLst>
              <a:path w="10291138" h="7443502">
                <a:moveTo>
                  <a:pt x="0" y="0"/>
                </a:moveTo>
                <a:lnTo>
                  <a:pt x="10291137" y="0"/>
                </a:lnTo>
                <a:lnTo>
                  <a:pt x="10291137" y="7443502"/>
                </a:lnTo>
                <a:lnTo>
                  <a:pt x="0" y="74435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Freeform 6"/>
          <p:cNvSpPr/>
          <p:nvPr/>
        </p:nvSpPr>
        <p:spPr>
          <a:xfrm>
            <a:off x="9433432" y="397640"/>
            <a:ext cx="7350074" cy="1876615"/>
          </a:xfrm>
          <a:custGeom>
            <a:avLst/>
            <a:gdLst/>
            <a:ahLst/>
            <a:cxnLst/>
            <a:rect l="l" t="t" r="r" b="b"/>
            <a:pathLst>
              <a:path w="7350074" h="1876615">
                <a:moveTo>
                  <a:pt x="0" y="0"/>
                </a:moveTo>
                <a:lnTo>
                  <a:pt x="7350074" y="0"/>
                </a:lnTo>
                <a:lnTo>
                  <a:pt x="7350074" y="1876614"/>
                </a:lnTo>
                <a:lnTo>
                  <a:pt x="0" y="18766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7" name="TextBox 7"/>
          <p:cNvSpPr txBox="1"/>
          <p:nvPr/>
        </p:nvSpPr>
        <p:spPr>
          <a:xfrm>
            <a:off x="266632" y="264838"/>
            <a:ext cx="7381583" cy="21422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45"/>
              </a:lnSpc>
              <a:spcBef>
                <a:spcPct val="0"/>
              </a:spcBef>
            </a:pPr>
            <a:r>
              <a:rPr lang="en-US" sz="7037">
                <a:solidFill>
                  <a:srgbClr val="000000"/>
                </a:solidFill>
                <a:latin typeface="IBM Plex Sans Bold"/>
              </a:rPr>
              <a:t>Bootstrap resampling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66632" y="2721089"/>
            <a:ext cx="7429637" cy="6528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08401" lvl="1" indent="-504200" algn="l">
              <a:lnSpc>
                <a:spcPts val="4670"/>
              </a:lnSpc>
              <a:buFont typeface="Arial"/>
              <a:buChar char="•"/>
            </a:pPr>
            <a:r>
              <a:rPr lang="en-US" sz="4670">
                <a:solidFill>
                  <a:srgbClr val="000000"/>
                </a:solidFill>
                <a:latin typeface="IBM Plex Sans"/>
              </a:rPr>
              <a:t>Applicato sulle righe dove “Conc” &lt; 10.000</a:t>
            </a:r>
          </a:p>
          <a:p>
            <a:pPr algn="l">
              <a:lnSpc>
                <a:spcPts val="4670"/>
              </a:lnSpc>
            </a:pPr>
            <a:endParaRPr lang="en-US" sz="4670">
              <a:solidFill>
                <a:srgbClr val="000000"/>
              </a:solidFill>
              <a:latin typeface="IBM Plex Sans"/>
            </a:endParaRPr>
          </a:p>
          <a:p>
            <a:pPr marL="1008401" lvl="1" indent="-504200" algn="l">
              <a:lnSpc>
                <a:spcPts val="4670"/>
              </a:lnSpc>
              <a:buFont typeface="Arial"/>
              <a:buChar char="•"/>
            </a:pPr>
            <a:r>
              <a:rPr lang="en-US" sz="4670">
                <a:solidFill>
                  <a:srgbClr val="000000"/>
                </a:solidFill>
                <a:latin typeface="IBM Plex Sans"/>
              </a:rPr>
              <a:t>Pro: Si riescono a cogliere rilevazioni in una fascia più ampia di valori</a:t>
            </a:r>
          </a:p>
          <a:p>
            <a:pPr algn="l">
              <a:lnSpc>
                <a:spcPts val="4670"/>
              </a:lnSpc>
            </a:pPr>
            <a:endParaRPr lang="en-US" sz="4670">
              <a:solidFill>
                <a:srgbClr val="000000"/>
              </a:solidFill>
              <a:latin typeface="IBM Plex Sans"/>
            </a:endParaRPr>
          </a:p>
          <a:p>
            <a:pPr marL="1008401" lvl="1" indent="-504200" algn="l">
              <a:lnSpc>
                <a:spcPts val="4670"/>
              </a:lnSpc>
              <a:buFont typeface="Arial"/>
              <a:buChar char="•"/>
            </a:pPr>
            <a:r>
              <a:rPr lang="en-US" sz="4670">
                <a:solidFill>
                  <a:srgbClr val="000000"/>
                </a:solidFill>
                <a:latin typeface="IBM Plex Sans"/>
              </a:rPr>
              <a:t>Contro: leggera perdita di precisione su valori più piccoli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42799" y="1038215"/>
            <a:ext cx="13402402" cy="1514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999"/>
              </a:lnSpc>
              <a:spcBef>
                <a:spcPct val="0"/>
              </a:spcBef>
            </a:pPr>
            <a:r>
              <a:rPr lang="en-US" sz="9999">
                <a:solidFill>
                  <a:srgbClr val="000000"/>
                </a:solidFill>
                <a:latin typeface="IBM Plex Sans Bold"/>
              </a:rPr>
              <a:t>Conclusioni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593711" y="3186922"/>
            <a:ext cx="13402402" cy="5212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1953" lvl="1" indent="-380976" algn="l">
              <a:lnSpc>
                <a:spcPts val="4587"/>
              </a:lnSpc>
              <a:buFont typeface="Arial"/>
              <a:buChar char="•"/>
            </a:pPr>
            <a:r>
              <a:rPr lang="en-US" sz="3529">
                <a:solidFill>
                  <a:srgbClr val="000000"/>
                </a:solidFill>
                <a:latin typeface="IBM Plex Sans Bold"/>
              </a:rPr>
              <a:t>Il data set era di dimensioni contenute, ciò ha reso difficile poter fare previsioni affidabili</a:t>
            </a:r>
          </a:p>
          <a:p>
            <a:pPr algn="l">
              <a:lnSpc>
                <a:spcPts val="4587"/>
              </a:lnSpc>
            </a:pPr>
            <a:endParaRPr lang="en-US" sz="3529">
              <a:solidFill>
                <a:srgbClr val="000000"/>
              </a:solidFill>
              <a:latin typeface="IBM Plex Sans Bold"/>
            </a:endParaRPr>
          </a:p>
          <a:p>
            <a:pPr marL="761953" lvl="1" indent="-380976" algn="l">
              <a:lnSpc>
                <a:spcPts val="4587"/>
              </a:lnSpc>
              <a:buFont typeface="Arial"/>
              <a:buChar char="•"/>
            </a:pPr>
            <a:r>
              <a:rPr lang="en-US" sz="3529">
                <a:solidFill>
                  <a:srgbClr val="000000"/>
                </a:solidFill>
                <a:latin typeface="IBM Plex Sans Bold"/>
              </a:rPr>
              <a:t>Il metodo migliore è stato la discesa del gradiente</a:t>
            </a:r>
          </a:p>
          <a:p>
            <a:pPr algn="l">
              <a:lnSpc>
                <a:spcPts val="4587"/>
              </a:lnSpc>
            </a:pPr>
            <a:endParaRPr lang="en-US" sz="3529">
              <a:solidFill>
                <a:srgbClr val="000000"/>
              </a:solidFill>
              <a:latin typeface="IBM Plex Sans Bold"/>
            </a:endParaRPr>
          </a:p>
          <a:p>
            <a:pPr marL="761953" lvl="1" indent="-380976" algn="l">
              <a:lnSpc>
                <a:spcPts val="4587"/>
              </a:lnSpc>
              <a:buFont typeface="Arial"/>
              <a:buChar char="•"/>
            </a:pPr>
            <a:r>
              <a:rPr lang="en-US" sz="3529">
                <a:solidFill>
                  <a:srgbClr val="000000"/>
                </a:solidFill>
                <a:latin typeface="IBM Plex Sans Bold"/>
              </a:rPr>
              <a:t>Importante monitorare le singole zone</a:t>
            </a:r>
          </a:p>
          <a:p>
            <a:pPr algn="l">
              <a:lnSpc>
                <a:spcPts val="4587"/>
              </a:lnSpc>
            </a:pPr>
            <a:endParaRPr lang="en-US" sz="3529">
              <a:solidFill>
                <a:srgbClr val="000000"/>
              </a:solidFill>
              <a:latin typeface="IBM Plex Sans Bold"/>
            </a:endParaRPr>
          </a:p>
          <a:p>
            <a:pPr marL="761953" lvl="1" indent="-380976" algn="l">
              <a:lnSpc>
                <a:spcPts val="4587"/>
              </a:lnSpc>
              <a:buFont typeface="Arial"/>
              <a:buChar char="•"/>
            </a:pPr>
            <a:r>
              <a:rPr lang="en-US" sz="3529">
                <a:solidFill>
                  <a:srgbClr val="000000"/>
                </a:solidFill>
                <a:latin typeface="IBM Plex Sans Bold"/>
              </a:rPr>
              <a:t>Sono necessari molti più dati per poter creare un modello che predica accuratamente la concentrazione</a:t>
            </a:r>
          </a:p>
        </p:txBody>
      </p:sp>
      <p:sp>
        <p:nvSpPr>
          <p:cNvPr id="4" name="Freeform 4"/>
          <p:cNvSpPr/>
          <p:nvPr/>
        </p:nvSpPr>
        <p:spPr>
          <a:xfrm>
            <a:off x="-1078186" y="-3810789"/>
            <a:ext cx="7041970" cy="6363380"/>
          </a:xfrm>
          <a:custGeom>
            <a:avLst/>
            <a:gdLst/>
            <a:ahLst/>
            <a:cxnLst/>
            <a:rect l="l" t="t" r="r" b="b"/>
            <a:pathLst>
              <a:path w="7041970" h="6363380">
                <a:moveTo>
                  <a:pt x="0" y="0"/>
                </a:moveTo>
                <a:lnTo>
                  <a:pt x="7041970" y="0"/>
                </a:lnTo>
                <a:lnTo>
                  <a:pt x="7041970" y="6363380"/>
                </a:lnTo>
                <a:lnTo>
                  <a:pt x="0" y="63633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Freeform 5"/>
          <p:cNvSpPr/>
          <p:nvPr/>
        </p:nvSpPr>
        <p:spPr>
          <a:xfrm>
            <a:off x="13074207" y="-3071795"/>
            <a:ext cx="6924127" cy="6143589"/>
          </a:xfrm>
          <a:custGeom>
            <a:avLst/>
            <a:gdLst/>
            <a:ahLst/>
            <a:cxnLst/>
            <a:rect l="l" t="t" r="r" b="b"/>
            <a:pathLst>
              <a:path w="6924127" h="6143589">
                <a:moveTo>
                  <a:pt x="0" y="0"/>
                </a:moveTo>
                <a:lnTo>
                  <a:pt x="6924127" y="0"/>
                </a:lnTo>
                <a:lnTo>
                  <a:pt x="6924127" y="6143590"/>
                </a:lnTo>
                <a:lnTo>
                  <a:pt x="0" y="61435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Freeform 6"/>
          <p:cNvSpPr/>
          <p:nvPr/>
        </p:nvSpPr>
        <p:spPr>
          <a:xfrm rot="922649">
            <a:off x="3986694" y="7956701"/>
            <a:ext cx="9761269" cy="7933249"/>
          </a:xfrm>
          <a:custGeom>
            <a:avLst/>
            <a:gdLst/>
            <a:ahLst/>
            <a:cxnLst/>
            <a:rect l="l" t="t" r="r" b="b"/>
            <a:pathLst>
              <a:path w="9761269" h="7933249">
                <a:moveTo>
                  <a:pt x="0" y="0"/>
                </a:moveTo>
                <a:lnTo>
                  <a:pt x="9761269" y="0"/>
                </a:lnTo>
                <a:lnTo>
                  <a:pt x="9761269" y="7933249"/>
                </a:lnTo>
                <a:lnTo>
                  <a:pt x="0" y="79332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69112" y="4012130"/>
            <a:ext cx="13360923" cy="1457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511"/>
              </a:lnSpc>
              <a:spcBef>
                <a:spcPct val="0"/>
              </a:spcBef>
            </a:pPr>
            <a:r>
              <a:rPr lang="en-US" sz="9593">
                <a:solidFill>
                  <a:srgbClr val="000000"/>
                </a:solidFill>
                <a:latin typeface="IBM Plex Sans Bold"/>
              </a:rPr>
              <a:t>Grazie per l’attenzione</a:t>
            </a:r>
          </a:p>
        </p:txBody>
      </p:sp>
      <p:sp>
        <p:nvSpPr>
          <p:cNvPr id="3" name="Freeform 3"/>
          <p:cNvSpPr/>
          <p:nvPr/>
        </p:nvSpPr>
        <p:spPr>
          <a:xfrm>
            <a:off x="10298530" y="-4566045"/>
            <a:ext cx="11277931" cy="8222637"/>
          </a:xfrm>
          <a:custGeom>
            <a:avLst/>
            <a:gdLst/>
            <a:ahLst/>
            <a:cxnLst/>
            <a:rect l="l" t="t" r="r" b="b"/>
            <a:pathLst>
              <a:path w="11277931" h="8222637">
                <a:moveTo>
                  <a:pt x="0" y="0"/>
                </a:moveTo>
                <a:lnTo>
                  <a:pt x="11277931" y="0"/>
                </a:lnTo>
                <a:lnTo>
                  <a:pt x="11277931" y="8222637"/>
                </a:lnTo>
                <a:lnTo>
                  <a:pt x="0" y="82226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>
            <a:off x="-2426744" y="6327372"/>
            <a:ext cx="7514403" cy="6202798"/>
          </a:xfrm>
          <a:custGeom>
            <a:avLst/>
            <a:gdLst/>
            <a:ahLst/>
            <a:cxnLst/>
            <a:rect l="l" t="t" r="r" b="b"/>
            <a:pathLst>
              <a:path w="7514403" h="6202798">
                <a:moveTo>
                  <a:pt x="0" y="0"/>
                </a:moveTo>
                <a:lnTo>
                  <a:pt x="7514403" y="0"/>
                </a:lnTo>
                <a:lnTo>
                  <a:pt x="7514403" y="6202798"/>
                </a:lnTo>
                <a:lnTo>
                  <a:pt x="0" y="62027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Freeform 5"/>
          <p:cNvSpPr/>
          <p:nvPr/>
        </p:nvSpPr>
        <p:spPr>
          <a:xfrm>
            <a:off x="11043706" y="6096067"/>
            <a:ext cx="8201285" cy="6665408"/>
          </a:xfrm>
          <a:custGeom>
            <a:avLst/>
            <a:gdLst/>
            <a:ahLst/>
            <a:cxnLst/>
            <a:rect l="l" t="t" r="r" b="b"/>
            <a:pathLst>
              <a:path w="8201285" h="6665408">
                <a:moveTo>
                  <a:pt x="0" y="0"/>
                </a:moveTo>
                <a:lnTo>
                  <a:pt x="8201284" y="0"/>
                </a:lnTo>
                <a:lnTo>
                  <a:pt x="8201284" y="6665408"/>
                </a:lnTo>
                <a:lnTo>
                  <a:pt x="0" y="66654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Freeform 6"/>
          <p:cNvSpPr/>
          <p:nvPr/>
        </p:nvSpPr>
        <p:spPr>
          <a:xfrm rot="-9180763">
            <a:off x="-4185181" y="-3645811"/>
            <a:ext cx="8370361" cy="8294267"/>
          </a:xfrm>
          <a:custGeom>
            <a:avLst/>
            <a:gdLst/>
            <a:ahLst/>
            <a:cxnLst/>
            <a:rect l="l" t="t" r="r" b="b"/>
            <a:pathLst>
              <a:path w="8370361" h="8294267">
                <a:moveTo>
                  <a:pt x="0" y="0"/>
                </a:moveTo>
                <a:lnTo>
                  <a:pt x="8370362" y="0"/>
                </a:lnTo>
                <a:lnTo>
                  <a:pt x="8370362" y="8294267"/>
                </a:lnTo>
                <a:lnTo>
                  <a:pt x="0" y="82942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351</Words>
  <Application>Microsoft Office PowerPoint</Application>
  <PresentationFormat>Personalizzato</PresentationFormat>
  <Paragraphs>75</Paragraphs>
  <Slides>16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16</vt:i4>
      </vt:variant>
    </vt:vector>
  </HeadingPairs>
  <TitlesOfParts>
    <vt:vector size="21" baseType="lpstr">
      <vt:lpstr>IBM Plex Sans</vt:lpstr>
      <vt:lpstr>Calibri</vt:lpstr>
      <vt:lpstr>IBM Plex Sans Bold</vt:lpstr>
      <vt:lpstr>Arial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Concentrazione Alghe</dc:title>
  <cp:lastModifiedBy>Andrea Parisi</cp:lastModifiedBy>
  <cp:revision>2</cp:revision>
  <dcterms:created xsi:type="dcterms:W3CDTF">2006-08-16T00:00:00Z</dcterms:created>
  <dcterms:modified xsi:type="dcterms:W3CDTF">2026-08-24T12:35:23Z</dcterms:modified>
  <dc:identifier>DAGGJiOIg-E</dc:identifier>
</cp:coreProperties>
</file>